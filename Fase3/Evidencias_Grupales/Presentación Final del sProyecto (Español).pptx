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th/UFxS78zv0PMFN3Waf3bMsY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customschemas.google.com/relationships/presentationmetadata" Target="metadata"/><Relationship Id="rId27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908aeceb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a908aeceb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563ad1ab3_0_66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8563ad1ab3_0_66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g38563ad1ab3_0_66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8563ad1ab3_0_66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8563ad1ab3_0_663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g38563ad1ab3_0_663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8563ad1ab3_0_66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8563ad1ab3_0_67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g38563ad1ab3_0_67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8563ad1ab3_0_67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8563ad1ab3_0_671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8563ad1ab3_0_67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8563ad1ab3_0_67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8563ad1ab3_0_67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g38563ad1ab3_0_67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8563ad1ab3_0_67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8563ad1ab3_0_677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g38563ad1ab3_0_677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g38563ad1ab3_0_67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8563ad1ab3_0_68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8563ad1ab3_0_68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g38563ad1ab3_0_68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8563ad1ab3_0_68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8563ad1ab3_0_68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g38563ad1ab3_0_685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g38563ad1ab3_0_685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38563ad1ab3_0_68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8563ad1ab3_0_69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8563ad1ab3_0_69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g38563ad1ab3_0_69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8563ad1ab3_0_69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8563ad1ab3_0_694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g38563ad1ab3_0_69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563ad1ab3_0_70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8563ad1ab3_0_70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g38563ad1ab3_0_70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8563ad1ab3_0_70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8563ad1ab3_0_701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g38563ad1ab3_0_701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g38563ad1ab3_0_70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8563ad1ab3_0_709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g38563ad1ab3_0_70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8563ad1ab3_0_70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8563ad1ab3_0_709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8563ad1ab3_0_70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563ad1ab3_0_71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8563ad1ab3_0_71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g38563ad1ab3_0_7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8563ad1ab3_0_7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8563ad1ab3_0_715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g38563ad1ab3_0_715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g38563ad1ab3_0_715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g38563ad1ab3_0_71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563ad1ab3_0_724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g38563ad1ab3_0_72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8563ad1ab3_0_727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g38563ad1ab3_0_7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8563ad1ab3_0_7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8563ad1ab3_0_727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8563ad1ab3_0_727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8563ad1ab3_0_72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63ad1ab3_0_73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563ad1ab3_0_65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8563ad1ab3_0_65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8563ad1ab3_0_65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hyperlink" Target="https://nutricombat.atlassian.net/projects/SCRUM/versions/10001/tab/release-report-all-issues?sortBy=PRIORITY&amp;sortOrder=DESC" TargetMode="External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hyperlink" Target="https://nutricombat.atlassian.net/projects/SCRUM/versions/10002/tab/release-report-all-issues?sortBy=ASSIGNEE" TargetMode="External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238327" y="3058616"/>
            <a:ext cx="360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6" name="Google Shape;96;p2"/>
          <p:cNvGrpSpPr/>
          <p:nvPr/>
        </p:nvGrpSpPr>
        <p:grpSpPr>
          <a:xfrm>
            <a:off x="4085625" y="781675"/>
            <a:ext cx="7633500" cy="2747731"/>
            <a:chOff x="4085625" y="814924"/>
            <a:chExt cx="7633500" cy="3175099"/>
          </a:xfrm>
        </p:grpSpPr>
        <p:sp>
          <p:nvSpPr>
            <p:cNvPr id="97" name="Google Shape;97;p2"/>
            <p:cNvSpPr/>
            <p:nvPr/>
          </p:nvSpPr>
          <p:spPr>
            <a:xfrm>
              <a:off x="4085625" y="864323"/>
              <a:ext cx="7633500" cy="31257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5680300" y="814924"/>
              <a:ext cx="5970900" cy="27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MX" sz="2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Fabián Muñoz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9250" lvl="0" marL="4572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●"/>
              </a:pPr>
              <a:r>
                <a:rPr lang="es-MX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Full Stack Developer (Frontend Focus)</a:t>
              </a:r>
              <a:endParaRPr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9250" lvl="0" marL="45720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●"/>
              </a:pPr>
              <a:r>
                <a:rPr lang="es-MX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frontend móvil con React Native</a:t>
              </a:r>
              <a:endParaRPr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9250" lvl="0" marL="45720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●"/>
              </a:pPr>
              <a:r>
                <a:rPr lang="es-MX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Gemini API y diseño UI/UX</a:t>
              </a:r>
              <a:endParaRPr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9250" lvl="0" marL="45720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●"/>
              </a:pPr>
              <a:r>
                <a:rPr lang="es-MX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Testing, validación de producto y coordinación de sprints</a:t>
              </a:r>
              <a:endParaRPr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153605" y="1339033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0" name="Google Shape;100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50225" y="1400973"/>
              <a:ext cx="1008425" cy="1008425"/>
            </a:xfrm>
            <a:prstGeom prst="rect">
              <a:avLst/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</p:pic>
      </p:grpSp>
      <p:grpSp>
        <p:nvGrpSpPr>
          <p:cNvPr id="101" name="Google Shape;101;p2"/>
          <p:cNvGrpSpPr/>
          <p:nvPr/>
        </p:nvGrpSpPr>
        <p:grpSpPr>
          <a:xfrm>
            <a:off x="4085625" y="4118220"/>
            <a:ext cx="7741817" cy="2567412"/>
            <a:chOff x="4085625" y="4701864"/>
            <a:chExt cx="7741817" cy="2755621"/>
          </a:xfrm>
        </p:grpSpPr>
        <p:sp>
          <p:nvSpPr>
            <p:cNvPr id="102" name="Google Shape;102;p2"/>
            <p:cNvSpPr/>
            <p:nvPr/>
          </p:nvSpPr>
          <p:spPr>
            <a:xfrm>
              <a:off x="4085625" y="4852885"/>
              <a:ext cx="7633500" cy="2604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4230430" y="5535936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4" name="Google Shape;104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17525" y="5603423"/>
              <a:ext cx="952500" cy="95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2"/>
            <p:cNvSpPr txBox="1"/>
            <p:nvPr/>
          </p:nvSpPr>
          <p:spPr>
            <a:xfrm>
              <a:off x="5856542" y="4701864"/>
              <a:ext cx="5970900" cy="16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MX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Vicente Chacón</a:t>
              </a:r>
              <a:endPara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●"/>
              </a:pPr>
              <a:r>
                <a:rPr lang="es-MX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Full Stack Developer (Backend Focus)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●"/>
              </a:pPr>
              <a:r>
                <a:rPr lang="es-MX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Arquitectura backend y diseño de base de datos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●"/>
              </a:pPr>
              <a:r>
                <a:rPr lang="es-MX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Implementación APIs REST y servicios AWS (Lambda, Cognito, S3)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●"/>
              </a:pPr>
              <a:r>
                <a:rPr lang="es-MX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Gestión de proyecto, documentación técnica y metodología Scrum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0" y="7382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3"/>
          <p:cNvSpPr/>
          <p:nvPr/>
        </p:nvSpPr>
        <p:spPr>
          <a:xfrm>
            <a:off x="754200" y="1384757"/>
            <a:ext cx="4348800" cy="5207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atletas de deportes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combate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deben alcanzar un peso exacto para el pesaje oficial,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típicamente 5-7 días antes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 pelea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 luego recuperarlo sin comprometer su rendimiento.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actuales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nutrición están diseñadas para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pérdida de peso gradual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abordan las necesidades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corte de peso deportivo: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carecen de planes 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deadlines estrictos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 ofrecen estrategias de corte 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fases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 no proporcionan recomendaciones alimentarias adaptadas a cada etapa del proceso. 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951375" y="1392307"/>
            <a:ext cx="4348800" cy="5483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NutriCombat: 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aplicación móvil especializada en corte de peso para atletas de deportes de combate. A diferencia de aplicaciones generales de nutrición,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NutriCombat 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aborda el desafío específico de alcanzar un peso exacto en una fecha determinada para pesajes oficiales.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aplicación utiliza IA con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Gemini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calcular calorías mediante fotografías de alimentos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 planes inteligentes de corte de peso según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tiempo disponible hasta la competencia, y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envía alertas personalizadas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Esto permite a los atletas gestionar su peso de </a:t>
            </a: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manera segura y efectiva, evitando métodos peligrosos que comprometan su rendimiento.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456903" y="3127283"/>
            <a:ext cx="1140600" cy="7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móvil que facilite el seguimiento nutricional mediante inteligencia artificial, proporcionando a los atletas de deportes de combate planes personalizados de corte de peso, dashboard con métricas en tiempo real, y retroalimentación inteligente basada en sus objetivos y progreso diario.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Implementar sistema de reconocimiento automático de alimentos</a:t>
            </a:r>
            <a:r>
              <a:rPr lang="es-MX" sz="1300">
                <a:solidFill>
                  <a:schemeClr val="dk1"/>
                </a:solidFill>
              </a:rPr>
              <a:t> mediante Google Gemini API para simplificar el registro nutricional diario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Integrar inteligencia artificial para generar planes de corte de peso personalizados según peso objetivo, fecha de competencia y perfil del atleta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Crear dashboard interactivo que visualice métricas clave del progreso nutricional </a:t>
            </a:r>
            <a:r>
              <a:rPr lang="es-MX" sz="1300">
                <a:solidFill>
                  <a:schemeClr val="dk1"/>
                </a:solidFill>
              </a:rPr>
              <a:t>y alerta al usuario según proximidad a la competencia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Desarrollar aplicación móvil multiplataforma con arquitectura serverless</a:t>
            </a:r>
            <a:r>
              <a:rPr lang="es-MX" sz="1300">
                <a:solidFill>
                  <a:schemeClr val="dk1"/>
                </a:solidFill>
              </a:rPr>
              <a:t> que garantice disponibilidad, eficiencia y rendimiento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y limitaciones del proyecto</a:t>
            </a:r>
            <a:endParaRPr/>
          </a:p>
        </p:txBody>
      </p:sp>
      <p:cxnSp>
        <p:nvCxnSpPr>
          <p:cNvPr id="135" name="Google Shape;135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5"/>
          <p:cNvSpPr txBox="1"/>
          <p:nvPr/>
        </p:nvSpPr>
        <p:spPr>
          <a:xfrm>
            <a:off x="136188" y="1891430"/>
            <a:ext cx="12192000" cy="43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</a:rPr>
              <a:t>Alcance del Proyecto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Plataformas: </a:t>
            </a:r>
            <a:r>
              <a:rPr lang="es-MX" sz="1800">
                <a:solidFill>
                  <a:schemeClr val="dk1"/>
                </a:solidFill>
              </a:rPr>
              <a:t>Aplicación móvil multiplataforma (iOS y Android)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Funcionalidades core: </a:t>
            </a:r>
            <a:r>
              <a:rPr lang="es-MX" sz="1800">
                <a:solidFill>
                  <a:schemeClr val="dk1"/>
                </a:solidFill>
              </a:rPr>
              <a:t>Planes de corte de peso con IA, registro fotográfico de alimentos, dashboard de métricas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Integración IA: </a:t>
            </a:r>
            <a:r>
              <a:rPr lang="es-MX" sz="1800">
                <a:solidFill>
                  <a:schemeClr val="dk1"/>
                </a:solidFill>
              </a:rPr>
              <a:t>Reconocimiento de alimentos mediante Gemini API a través de Langchain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Infraestructura: </a:t>
            </a:r>
            <a:r>
              <a:rPr lang="es-MX" sz="1800">
                <a:solidFill>
                  <a:schemeClr val="dk1"/>
                </a:solidFill>
              </a:rPr>
              <a:t>Arquitectura cloud serverless  con AWS, y servicios PosgreSQL de Supabase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</a:rPr>
              <a:t>Limitaciones del Proyecto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Precisión IA: </a:t>
            </a:r>
            <a:r>
              <a:rPr lang="es-MX" sz="1800">
                <a:solidFill>
                  <a:schemeClr val="dk1"/>
                </a:solidFill>
              </a:rPr>
              <a:t>Dependiente de tamaño y calidad de imagen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Conectividad: </a:t>
            </a:r>
            <a:r>
              <a:rPr lang="es-MX" sz="1800">
                <a:solidFill>
                  <a:schemeClr val="dk1"/>
                </a:solidFill>
              </a:rPr>
              <a:t>Requiere conexión a internet para funciones principales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Idioma: </a:t>
            </a:r>
            <a:r>
              <a:rPr lang="es-MX" sz="1800">
                <a:solidFill>
                  <a:schemeClr val="dk1"/>
                </a:solidFill>
              </a:rPr>
              <a:t>Versión inicial solo en español para mercado chileno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Integración salud: </a:t>
            </a:r>
            <a:r>
              <a:rPr lang="es-MX" sz="1800">
                <a:solidFill>
                  <a:schemeClr val="dk1"/>
                </a:solidFill>
              </a:rPr>
              <a:t>No incluye sincronización con dispositivos médicos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Alcance temporal: </a:t>
            </a:r>
            <a:r>
              <a:rPr lang="es-MX" sz="1800">
                <a:solidFill>
                  <a:schemeClr val="dk1"/>
                </a:solidFill>
              </a:rPr>
              <a:t>MVP funcional en 3 meses de desarrollo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Equipo:</a:t>
            </a:r>
            <a:r>
              <a:rPr lang="es-MX" sz="1800">
                <a:solidFill>
                  <a:schemeClr val="dk1"/>
                </a:solidFill>
              </a:rPr>
              <a:t> Desarrollo con recursos limitados (2 desarrolladores)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0" y="738255"/>
            <a:ext cx="121920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p6"/>
          <p:cNvSpPr txBox="1"/>
          <p:nvPr/>
        </p:nvSpPr>
        <p:spPr>
          <a:xfrm>
            <a:off x="0" y="1435146"/>
            <a:ext cx="12192000" cy="51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300">
                <a:solidFill>
                  <a:schemeClr val="dk1"/>
                </a:solidFill>
              </a:rPr>
              <a:t>Framework Ágil - Scrum Adaptado: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Sprints de 2 semanas</a:t>
            </a:r>
            <a:r>
              <a:rPr lang="es-MX" sz="1300">
                <a:solidFill>
                  <a:schemeClr val="dk1"/>
                </a:solidFill>
              </a:rPr>
              <a:t> con entregas incrementales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Daily stand ups</a:t>
            </a:r>
            <a:r>
              <a:rPr lang="es-MX" sz="1300">
                <a:solidFill>
                  <a:schemeClr val="dk1"/>
                </a:solidFill>
              </a:rPr>
              <a:t> para sincronización del equipo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Sprint planning</a:t>
            </a:r>
            <a:r>
              <a:rPr lang="es-MX" sz="1300">
                <a:solidFill>
                  <a:schemeClr val="dk1"/>
                </a:solidFill>
              </a:rPr>
              <a:t> con priorización de historias de usuario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Sprint review</a:t>
            </a:r>
            <a:r>
              <a:rPr lang="es-MX" sz="1300">
                <a:solidFill>
                  <a:schemeClr val="dk1"/>
                </a:solidFill>
              </a:rPr>
              <a:t> con demostración de funcionalidades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Retrospectiva</a:t>
            </a:r>
            <a:r>
              <a:rPr lang="es-MX" sz="1300">
                <a:solidFill>
                  <a:schemeClr val="dk1"/>
                </a:solidFill>
              </a:rPr>
              <a:t> para mejora continua del proceso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300">
                <a:solidFill>
                  <a:schemeClr val="dk1"/>
                </a:solidFill>
              </a:rPr>
              <a:t>Roles y Responsabilidades: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Product Owner:</a:t>
            </a:r>
            <a:r>
              <a:rPr lang="es-MX" sz="1300">
                <a:solidFill>
                  <a:schemeClr val="dk1"/>
                </a:solidFill>
              </a:rPr>
              <a:t> Rotación semanal entre integrantes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Scrum Master:</a:t>
            </a:r>
            <a:r>
              <a:rPr lang="es-MX" sz="1300">
                <a:solidFill>
                  <a:schemeClr val="dk1"/>
                </a:solidFill>
              </a:rPr>
              <a:t> </a:t>
            </a:r>
            <a:r>
              <a:rPr lang="es-MX" sz="1300">
                <a:solidFill>
                  <a:schemeClr val="dk1"/>
                </a:solidFill>
              </a:rPr>
              <a:t>Rotación</a:t>
            </a:r>
            <a:r>
              <a:rPr lang="es-MX" sz="1300">
                <a:solidFill>
                  <a:schemeClr val="dk1"/>
                </a:solidFill>
              </a:rPr>
              <a:t> semanal entre integrantes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Development Team:</a:t>
            </a:r>
            <a:r>
              <a:rPr lang="es-MX" sz="1300">
                <a:solidFill>
                  <a:schemeClr val="dk1"/>
                </a:solidFill>
              </a:rPr>
              <a:t> Fabián y Vicente (trabajo colaborativo en pares)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1500">
                <a:solidFill>
                  <a:schemeClr val="dk1"/>
                </a:solidFill>
              </a:rPr>
              <a:t>Herramientas de Gestión: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Jira:</a:t>
            </a:r>
            <a:r>
              <a:rPr lang="es-MX" sz="1300">
                <a:solidFill>
                  <a:schemeClr val="dk1"/>
                </a:solidFill>
              </a:rPr>
              <a:t> Gestión de backlog y seguimiento de sprints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Git/GitHub:</a:t>
            </a:r>
            <a:r>
              <a:rPr lang="es-MX" sz="1300">
                <a:solidFill>
                  <a:schemeClr val="dk1"/>
                </a:solidFill>
              </a:rPr>
              <a:t> Control de versiones y colaboración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Figma:</a:t>
            </a:r>
            <a:r>
              <a:rPr lang="es-MX" sz="1300">
                <a:solidFill>
                  <a:schemeClr val="dk1"/>
                </a:solidFill>
              </a:rPr>
              <a:t> Diseño y prototipado colaborativo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WhatsApp:</a:t>
            </a:r>
            <a:r>
              <a:rPr lang="es-MX" sz="1300">
                <a:solidFill>
                  <a:schemeClr val="dk1"/>
                </a:solidFill>
              </a:rPr>
              <a:t> Comunicación diaria del equipo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cxnSp>
        <p:nvCxnSpPr>
          <p:cNvPr id="153" name="Google Shape;153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4" name="Google Shape;154;p8" title="Arch Diagram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1200" y="2079155"/>
            <a:ext cx="9680328" cy="4474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NUTRICOMBAT”</a:t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1" y="115565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 Plan del desarrollo del proyecto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7"/>
          <p:cNvSpPr txBox="1"/>
          <p:nvPr/>
        </p:nvSpPr>
        <p:spPr>
          <a:xfrm>
            <a:off x="5230140" y="1802150"/>
            <a:ext cx="1479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82050" lIns="82050" spcFirstLastPara="1" rIns="82050" wrap="square" tIns="8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25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Release 1.0.0</a:t>
            </a:r>
            <a:endParaRPr sz="1525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4" name="Google Shape;16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788" y="2295225"/>
            <a:ext cx="11218028" cy="432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9" name="Google Shape;169;g3a908aeceb8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908aeceb8_0_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“NUTRICOMBAT”</a:t>
            </a:r>
            <a:endParaRPr/>
          </a:p>
        </p:txBody>
      </p:sp>
      <p:sp>
        <p:nvSpPr>
          <p:cNvPr id="171" name="Google Shape;171;g3a908aeceb8_0_1"/>
          <p:cNvSpPr txBox="1"/>
          <p:nvPr/>
        </p:nvSpPr>
        <p:spPr>
          <a:xfrm>
            <a:off x="1" y="115565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 Plan del desarrollo del proyecto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g3a908aeceb8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g3a908aeceb8_0_1"/>
          <p:cNvSpPr txBox="1"/>
          <p:nvPr/>
        </p:nvSpPr>
        <p:spPr>
          <a:xfrm>
            <a:off x="5230140" y="1802150"/>
            <a:ext cx="1479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82050" lIns="82050" spcFirstLastPara="1" rIns="82050" wrap="square" tIns="8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25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Release 1.0.</a:t>
            </a:r>
            <a:r>
              <a:rPr lang="es-MX" sz="1525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525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4" name="Google Shape;174;g3a908aeceb8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379050"/>
            <a:ext cx="11887200" cy="3588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9" name="Google Shape;1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0" y="7778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82" name="Google Shape;182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3" name="Google Shape;183;p9" title="Untitled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0725" y="1565625"/>
            <a:ext cx="9738575" cy="51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8" name="Google Shape;1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0" y="101009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91" name="Google Shape;191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10"/>
          <p:cNvSpPr txBox="1"/>
          <p:nvPr/>
        </p:nvSpPr>
        <p:spPr>
          <a:xfrm>
            <a:off x="1223275" y="1755125"/>
            <a:ext cx="8738700" cy="31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1300">
                <a:solidFill>
                  <a:schemeClr val="dk1"/>
                </a:solidFill>
              </a:rPr>
              <a:t>Frontend Mobile: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React Native</a:t>
            </a:r>
            <a:r>
              <a:rPr lang="es-MX" sz="1100">
                <a:solidFill>
                  <a:schemeClr val="dk1"/>
                </a:solidFill>
              </a:rPr>
              <a:t> (EAS Compiled) para iOS/Android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Expo</a:t>
            </a:r>
            <a:r>
              <a:rPr lang="es-MX" sz="1100">
                <a:solidFill>
                  <a:schemeClr val="dk1"/>
                </a:solidFill>
              </a:rPr>
              <a:t> para desarrollo y deployment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1300">
                <a:solidFill>
                  <a:schemeClr val="dk1"/>
                </a:solidFill>
              </a:rPr>
              <a:t>Backend &amp; Cloud: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AWS Lambda Functions</a:t>
            </a:r>
            <a:r>
              <a:rPr lang="es-MX" sz="1100">
                <a:solidFill>
                  <a:schemeClr val="dk1"/>
                </a:solidFill>
              </a:rPr>
              <a:t> para lógica de negocio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API Gateway</a:t>
            </a:r>
            <a:r>
              <a:rPr lang="es-MX" sz="1100">
                <a:solidFill>
                  <a:schemeClr val="dk1"/>
                </a:solidFill>
              </a:rPr>
              <a:t> para exposición de endpoints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AWS Cognito</a:t>
            </a:r>
            <a:r>
              <a:rPr lang="es-MX" sz="1100">
                <a:solidFill>
                  <a:schemeClr val="dk1"/>
                </a:solidFill>
              </a:rPr>
              <a:t> para autenticación de usuarios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PostgreSQL (Supabase)</a:t>
            </a:r>
            <a:r>
              <a:rPr lang="es-MX" sz="1100">
                <a:solidFill>
                  <a:schemeClr val="dk1"/>
                </a:solidFill>
              </a:rPr>
              <a:t> para base de datos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S3</a:t>
            </a:r>
            <a:r>
              <a:rPr lang="es-MX" sz="1100">
                <a:solidFill>
                  <a:schemeClr val="dk1"/>
                </a:solidFill>
              </a:rPr>
              <a:t> para almacenamiento de imágenes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1300">
                <a:solidFill>
                  <a:schemeClr val="dk1"/>
                </a:solidFill>
              </a:rPr>
              <a:t>Inteligencia Artificial: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Langchain: </a:t>
            </a:r>
            <a:r>
              <a:rPr lang="es-MX" sz="1100">
                <a:solidFill>
                  <a:schemeClr val="dk1"/>
                </a:solidFill>
              </a:rPr>
              <a:t>Framework para facilitar integración con Google Gemini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Google Gemini API</a:t>
            </a:r>
            <a:r>
              <a:rPr lang="es-MX" sz="1100">
                <a:solidFill>
                  <a:schemeClr val="dk1"/>
                </a:solidFill>
              </a:rPr>
              <a:t> para reconocimiento de alimentos y planes de corte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1300">
                <a:solidFill>
                  <a:schemeClr val="dk1"/>
                </a:solidFill>
              </a:rPr>
              <a:t>DevOps &amp; Tools: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GitHub</a:t>
            </a:r>
            <a:r>
              <a:rPr lang="es-MX" sz="1100">
                <a:solidFill>
                  <a:schemeClr val="dk1"/>
                </a:solidFill>
              </a:rPr>
              <a:t> para control de versiones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Jira</a:t>
            </a:r>
            <a:r>
              <a:rPr lang="es-MX" sz="1100">
                <a:solidFill>
                  <a:schemeClr val="dk1"/>
                </a:solidFill>
              </a:rPr>
              <a:t> para gestión de proyecto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Confluence</a:t>
            </a:r>
            <a:r>
              <a:rPr lang="es-MX" sz="1100">
                <a:solidFill>
                  <a:schemeClr val="dk1"/>
                </a:solidFill>
              </a:rPr>
              <a:t> para documentación del proyecto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Figma</a:t>
            </a:r>
            <a:r>
              <a:rPr lang="es-MX" sz="1100">
                <a:solidFill>
                  <a:schemeClr val="dk1"/>
                </a:solidFill>
              </a:rPr>
              <a:t> para diseño UI/UX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Postman y terminal</a:t>
            </a:r>
            <a:r>
              <a:rPr lang="es-MX" sz="1100">
                <a:solidFill>
                  <a:schemeClr val="dk1"/>
                </a:solidFill>
              </a:rPr>
              <a:t> para testing de APIs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3" name="Google Shape;2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9" name="Google Shape;2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3"/>
          <p:cNvSpPr txBox="1"/>
          <p:nvPr/>
        </p:nvSpPr>
        <p:spPr>
          <a:xfrm>
            <a:off x="1" y="1693148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5" name="Google Shape;2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
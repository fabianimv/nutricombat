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embeddedFontLst>
    <p:embeddedFont>
      <p:font typeface="Raleway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jth/UFxS78zv0PMFN3Waf3bMsY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regular.fntdata"/><Relationship Id="rId22" Type="http://schemas.openxmlformats.org/officeDocument/2006/relationships/font" Target="fonts/Raleway-italic.fntdata"/><Relationship Id="rId21" Type="http://schemas.openxmlformats.org/officeDocument/2006/relationships/font" Target="fonts/Raleway-bold.fntdata"/><Relationship Id="rId24" Type="http://schemas.openxmlformats.org/officeDocument/2006/relationships/font" Target="fonts/Lato-regular.fntdata"/><Relationship Id="rId23" Type="http://schemas.openxmlformats.org/officeDocument/2006/relationships/font" Target="fonts/Raleway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Lato-italic.fntdata"/><Relationship Id="rId25" Type="http://schemas.openxmlformats.org/officeDocument/2006/relationships/font" Target="fonts/Lato-bold.fntdata"/><Relationship Id="rId28" Type="http://customschemas.google.com/relationships/presentationmetadata" Target="metadata"/><Relationship Id="rId27" Type="http://schemas.openxmlformats.org/officeDocument/2006/relationships/font" Target="fonts/Lato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908aeceb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a908aeceb8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8563ad1ab3_0_663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g38563ad1ab3_0_663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2" name="Google Shape;12;g38563ad1ab3_0_66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g38563ad1ab3_0_66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g38563ad1ab3_0_663"/>
          <p:cNvSpPr txBox="1"/>
          <p:nvPr>
            <p:ph type="ctrTitle"/>
          </p:nvPr>
        </p:nvSpPr>
        <p:spPr>
          <a:xfrm>
            <a:off x="972600" y="1763267"/>
            <a:ext cx="10250700" cy="221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5" name="Google Shape;15;g38563ad1ab3_0_663"/>
          <p:cNvSpPr txBox="1"/>
          <p:nvPr>
            <p:ph idx="1" type="subTitle"/>
          </p:nvPr>
        </p:nvSpPr>
        <p:spPr>
          <a:xfrm>
            <a:off x="972837" y="4230533"/>
            <a:ext cx="10250700" cy="721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g38563ad1ab3_0_663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g38563ad1ab3_0_671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9" name="Google Shape;19;g38563ad1ab3_0_67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g38563ad1ab3_0_67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g38563ad1ab3_0_671"/>
          <p:cNvSpPr txBox="1"/>
          <p:nvPr>
            <p:ph type="title"/>
          </p:nvPr>
        </p:nvSpPr>
        <p:spPr>
          <a:xfrm>
            <a:off x="972600" y="1763267"/>
            <a:ext cx="10251300" cy="202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g38563ad1ab3_0_67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8563ad1ab3_0_677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g38563ad1ab3_0_677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26" name="Google Shape;26;g38563ad1ab3_0_67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g38563ad1ab3_0_67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g38563ad1ab3_0_677"/>
          <p:cNvSpPr txBox="1"/>
          <p:nvPr>
            <p:ph type="title"/>
          </p:nvPr>
        </p:nvSpPr>
        <p:spPr>
          <a:xfrm>
            <a:off x="972600" y="1758200"/>
            <a:ext cx="102516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29" name="Google Shape;29;g38563ad1ab3_0_677"/>
          <p:cNvSpPr txBox="1"/>
          <p:nvPr>
            <p:ph idx="1" type="body"/>
          </p:nvPr>
        </p:nvSpPr>
        <p:spPr>
          <a:xfrm>
            <a:off x="972600" y="2771833"/>
            <a:ext cx="102516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0" name="Google Shape;30;g38563ad1ab3_0_677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8563ad1ab3_0_685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g38563ad1ab3_0_685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34" name="Google Shape;34;g38563ad1ab3_0_68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g38563ad1ab3_0_68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g38563ad1ab3_0_685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37" name="Google Shape;37;g38563ad1ab3_0_685"/>
          <p:cNvSpPr txBox="1"/>
          <p:nvPr>
            <p:ph idx="1" type="body"/>
          </p:nvPr>
        </p:nvSpPr>
        <p:spPr>
          <a:xfrm>
            <a:off x="972434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8" name="Google Shape;38;g38563ad1ab3_0_685"/>
          <p:cNvSpPr txBox="1"/>
          <p:nvPr>
            <p:ph idx="2" type="body"/>
          </p:nvPr>
        </p:nvSpPr>
        <p:spPr>
          <a:xfrm>
            <a:off x="6191471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9" name="Google Shape;39;g38563ad1ab3_0_685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8563ad1ab3_0_694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g38563ad1ab3_0_694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43" name="Google Shape;43;g38563ad1ab3_0_69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g38563ad1ab3_0_69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g38563ad1ab3_0_694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46" name="Google Shape;46;g38563ad1ab3_0_69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8563ad1ab3_0_701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g38563ad1ab3_0_701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50" name="Google Shape;50;g38563ad1ab3_0_70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g38563ad1ab3_0_70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g38563ad1ab3_0_701"/>
          <p:cNvSpPr txBox="1"/>
          <p:nvPr>
            <p:ph type="title"/>
          </p:nvPr>
        </p:nvSpPr>
        <p:spPr>
          <a:xfrm>
            <a:off x="973333" y="1758200"/>
            <a:ext cx="4401300" cy="1842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53" name="Google Shape;53;g38563ad1ab3_0_701"/>
          <p:cNvSpPr txBox="1"/>
          <p:nvPr>
            <p:ph idx="1" type="body"/>
          </p:nvPr>
        </p:nvSpPr>
        <p:spPr>
          <a:xfrm>
            <a:off x="961633" y="3708967"/>
            <a:ext cx="4401300" cy="2130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54" name="Google Shape;54;g38563ad1ab3_0_70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g38563ad1ab3_0_709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57" name="Google Shape;57;g38563ad1ab3_0_70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g38563ad1ab3_0_70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g38563ad1ab3_0_709"/>
          <p:cNvSpPr txBox="1"/>
          <p:nvPr>
            <p:ph type="title"/>
          </p:nvPr>
        </p:nvSpPr>
        <p:spPr>
          <a:xfrm>
            <a:off x="972600" y="1152400"/>
            <a:ext cx="9361500" cy="3980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g38563ad1ab3_0_709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8563ad1ab3_0_71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g38563ad1ab3_0_715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64" name="Google Shape;64;g38563ad1ab3_0_71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g38563ad1ab3_0_71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g38563ad1ab3_0_715"/>
          <p:cNvSpPr txBox="1"/>
          <p:nvPr>
            <p:ph type="title"/>
          </p:nvPr>
        </p:nvSpPr>
        <p:spPr>
          <a:xfrm>
            <a:off x="973333" y="1758200"/>
            <a:ext cx="4401300" cy="224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67" name="Google Shape;67;g38563ad1ab3_0_715"/>
          <p:cNvSpPr txBox="1"/>
          <p:nvPr>
            <p:ph idx="1" type="subTitle"/>
          </p:nvPr>
        </p:nvSpPr>
        <p:spPr>
          <a:xfrm>
            <a:off x="966600" y="4215367"/>
            <a:ext cx="4401300" cy="1011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g38563ad1ab3_0_715"/>
          <p:cNvSpPr txBox="1"/>
          <p:nvPr>
            <p:ph idx="2" type="body"/>
          </p:nvPr>
        </p:nvSpPr>
        <p:spPr>
          <a:xfrm>
            <a:off x="6898967" y="1803500"/>
            <a:ext cx="4499100" cy="4034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69" name="Google Shape;69;g38563ad1ab3_0_715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563ad1ab3_0_724"/>
          <p:cNvSpPr txBox="1"/>
          <p:nvPr>
            <p:ph idx="1" type="body"/>
          </p:nvPr>
        </p:nvSpPr>
        <p:spPr>
          <a:xfrm>
            <a:off x="966600" y="5830068"/>
            <a:ext cx="10263300" cy="614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</a:lstStyle>
          <a:p/>
        </p:txBody>
      </p:sp>
      <p:sp>
        <p:nvSpPr>
          <p:cNvPr id="72" name="Google Shape;72;g38563ad1ab3_0_72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g38563ad1ab3_0_727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75" name="Google Shape;75;g38563ad1ab3_0_72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g38563ad1ab3_0_72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g38563ad1ab3_0_727"/>
          <p:cNvSpPr txBox="1"/>
          <p:nvPr>
            <p:ph hasCustomPrompt="1" type="title"/>
          </p:nvPr>
        </p:nvSpPr>
        <p:spPr>
          <a:xfrm>
            <a:off x="972600" y="978600"/>
            <a:ext cx="10251300" cy="1659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g38563ad1ab3_0_727"/>
          <p:cNvSpPr txBox="1"/>
          <p:nvPr>
            <p:ph idx="1" type="body"/>
          </p:nvPr>
        </p:nvSpPr>
        <p:spPr>
          <a:xfrm>
            <a:off x="972600" y="3030517"/>
            <a:ext cx="10251300" cy="210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>
                <a:solidFill>
                  <a:schemeClr val="lt1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g38563ad1ab3_0_727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8563ad1ab3_0_73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8563ad1ab3_0_65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g38563ad1ab3_0_659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Lato"/>
              <a:buChar char="●"/>
              <a:defRPr sz="17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23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23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3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3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23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23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23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23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g38563ad1ab3_0_659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hyperlink" Target="https://nutricombat.atlassian.net/projects/SCRUM/versions/10001/tab/release-report-all-issues?sortBy=PRIORITY&amp;sortOrder=DESC" TargetMode="External"/><Relationship Id="rId5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hyperlink" Target="https://nutricombat.atlassian.net/projects/SCRUM/versions/10002/tab/release-report-all-issues?sortBy=ASSIGNEE" TargetMode="External"/><Relationship Id="rId5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2" name="Google Shape;9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94" name="Google Shape;94;p2"/>
          <p:cNvSpPr txBox="1"/>
          <p:nvPr/>
        </p:nvSpPr>
        <p:spPr>
          <a:xfrm>
            <a:off x="238327" y="3058616"/>
            <a:ext cx="360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6" name="Google Shape;96;p2"/>
          <p:cNvGrpSpPr/>
          <p:nvPr/>
        </p:nvGrpSpPr>
        <p:grpSpPr>
          <a:xfrm>
            <a:off x="4085625" y="781675"/>
            <a:ext cx="7633500" cy="2747730"/>
            <a:chOff x="4085625" y="814925"/>
            <a:chExt cx="7633500" cy="3175098"/>
          </a:xfrm>
        </p:grpSpPr>
        <p:sp>
          <p:nvSpPr>
            <p:cNvPr id="97" name="Google Shape;97;p2"/>
            <p:cNvSpPr/>
            <p:nvPr/>
          </p:nvSpPr>
          <p:spPr>
            <a:xfrm>
              <a:off x="4085625" y="864323"/>
              <a:ext cx="7633500" cy="31257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 txBox="1"/>
            <p:nvPr/>
          </p:nvSpPr>
          <p:spPr>
            <a:xfrm>
              <a:off x="5680300" y="814925"/>
              <a:ext cx="5970900" cy="16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Fabián Muñoz</a:t>
              </a:r>
              <a:endParaRPr b="0" i="0" sz="2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8415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Full Stack </a:t>
              </a: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Developer (</a:t>
              </a: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 Focus)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0" marL="4572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●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desempeñadas: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frontend móvil (React Native)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Integración con APIs externas (Gemini API)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Diseño UI/UX e implementación de mockups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Testing y control de calidad frontend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Configuración de monitoreo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Validación del producto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115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alibri"/>
                <a:buChar char="•"/>
              </a:pPr>
              <a:r>
                <a:rPr lang="es-MX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Coordinación de sprints y seguimiento de progreso</a:t>
              </a:r>
              <a:endParaRPr sz="1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4153605" y="1339033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0" name="Google Shape;100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450225" y="1400973"/>
              <a:ext cx="1008425" cy="1008425"/>
            </a:xfrm>
            <a:prstGeom prst="rect">
              <a:avLst/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</p:pic>
      </p:grpSp>
      <p:grpSp>
        <p:nvGrpSpPr>
          <p:cNvPr id="101" name="Google Shape;101;p2"/>
          <p:cNvGrpSpPr/>
          <p:nvPr/>
        </p:nvGrpSpPr>
        <p:grpSpPr>
          <a:xfrm>
            <a:off x="4085625" y="4118220"/>
            <a:ext cx="7741817" cy="2567412"/>
            <a:chOff x="4085625" y="4701864"/>
            <a:chExt cx="7741817" cy="2755621"/>
          </a:xfrm>
        </p:grpSpPr>
        <p:sp>
          <p:nvSpPr>
            <p:cNvPr id="102" name="Google Shape;102;p2"/>
            <p:cNvSpPr/>
            <p:nvPr/>
          </p:nvSpPr>
          <p:spPr>
            <a:xfrm>
              <a:off x="4085625" y="4852885"/>
              <a:ext cx="7633500" cy="2604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4230430" y="5535936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4" name="Google Shape;104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17525" y="5603423"/>
              <a:ext cx="952500" cy="952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" name="Google Shape;105;p2"/>
            <p:cNvSpPr txBox="1"/>
            <p:nvPr/>
          </p:nvSpPr>
          <p:spPr>
            <a:xfrm>
              <a:off x="5856542" y="4701864"/>
              <a:ext cx="5970900" cy="16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MX" sz="2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Vicente Chacón</a:t>
              </a:r>
              <a:endParaRPr b="0" i="0" sz="2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78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Full Stack Developer (Backend Focus)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●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desempeñadas: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Arquitectura del sistema backend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Diseño de base de datos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Implementación de APIs REST y servicios AWS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Configuración de DevOps (AWS Lambda, Cognito, S3)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del proyecto y documentación técnica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Gestión del proyecto y metodología Scrum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Análisis, requerimientos y documentación de usuario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1" marL="91440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Char char="•"/>
              </a:pPr>
              <a:r>
                <a:rPr lang="es-MX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Pruebas funcionales y testing de usuario final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0" y="73824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4" name="Google Shape;114;p3"/>
          <p:cNvSpPr/>
          <p:nvPr/>
        </p:nvSpPr>
        <p:spPr>
          <a:xfrm>
            <a:off x="754200" y="1384757"/>
            <a:ext cx="4348800" cy="52077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atletas de deportes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 combate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deben alcanzar un peso exacto para el pesaje oficial,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típicamente 5-7 días antes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 la pelea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y luego recuperarlo sin comprometer su rendimiento. 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aplicaciones actuales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nutrición están diseñadas para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pérdida de peso gradual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abordan las necesidades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del corte de peso deportivo: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carecen de planes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 deadlines estrictos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no ofrecen estrategias de corte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fases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y no proporcionan recomendaciones alimentarias adaptadas a cada etapa del proceso. </a:t>
            </a:r>
            <a:endParaRPr b="1"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6951375" y="1392307"/>
            <a:ext cx="4348800" cy="54837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NutriCombat: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una aplicación móvil especializada en corte de peso para atletas de deportes de combate. A diferencia de aplicaciones generales de nutrición,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NutriCombat 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aborda el desafío específico de alcanzar un peso exacto en una fecha determinada para pesajes oficiales.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aplicación utiliza IA con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Gemini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para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calcular calorías mediante fotografías de alimentos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 planes inteligentes de corte de peso según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el tiempo disponible hasta la competencia, y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envía alertas personalizadas</a:t>
            </a:r>
            <a:r>
              <a:rPr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Esto permite a los atletas gestionar su peso de </a:t>
            </a:r>
            <a:r>
              <a:rPr b="1" lang="es-MX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manera segura y efectiva, evitando métodos peligrosos que comprometan su rendimiento.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5456903" y="3127283"/>
            <a:ext cx="1140600" cy="7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1" name="Google Shape;12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23" name="Google Shape;123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4" name="Google Shape;124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5" name="Google Shape;125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-MX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móvil que facilite el seguimiento nutricional mediante inteligencia artificial, proporcionando a los atletas de deportes de combate planes personalizados de corte de peso, dashboard con métricas en tiempo real, y retroalimentación inteligente basada en sus objetivos y progreso diario.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Implementar sistema de reconocimiento automático de alimentos</a:t>
            </a:r>
            <a:r>
              <a:rPr lang="es-MX" sz="1300">
                <a:solidFill>
                  <a:schemeClr val="dk1"/>
                </a:solidFill>
              </a:rPr>
              <a:t> mediante Google Gemini API para simplificar el registro nutricional diario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Integrar inteligencia artificial para generar planes de corte de peso personalizados según peso objetivo, fecha de competencia y perfil del atleta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Crear dashboard interactivo que visualice métricas clave del progreso nutricional </a:t>
            </a:r>
            <a:r>
              <a:rPr lang="es-MX" sz="1300">
                <a:solidFill>
                  <a:schemeClr val="dk1"/>
                </a:solidFill>
              </a:rPr>
              <a:t>y alerta al usuario según proximidad a la competencia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Desarrollar aplicación móvil multiplataforma con arquitectura serverless</a:t>
            </a:r>
            <a:r>
              <a:rPr lang="es-MX" sz="1300">
                <a:solidFill>
                  <a:schemeClr val="dk1"/>
                </a:solidFill>
              </a:rPr>
              <a:t> que garantice disponibilidad, eficiencia y rendimiento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2" name="Google Shape;13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y limitaciones del proyecto</a:t>
            </a:r>
            <a:endParaRPr/>
          </a:p>
        </p:txBody>
      </p:sp>
      <p:cxnSp>
        <p:nvCxnSpPr>
          <p:cNvPr id="135" name="Google Shape;135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6" name="Google Shape;136;p5"/>
          <p:cNvSpPr txBox="1"/>
          <p:nvPr/>
        </p:nvSpPr>
        <p:spPr>
          <a:xfrm>
            <a:off x="136188" y="1891430"/>
            <a:ext cx="12192000" cy="43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800">
                <a:solidFill>
                  <a:schemeClr val="dk1"/>
                </a:solidFill>
              </a:rPr>
              <a:t>Alcance del Proyecto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Plataformas: </a:t>
            </a:r>
            <a:r>
              <a:rPr lang="es-MX" sz="1800">
                <a:solidFill>
                  <a:schemeClr val="dk1"/>
                </a:solidFill>
              </a:rPr>
              <a:t>Aplicación móvil multiplataforma (iOS y Android)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Funcionalidades core: </a:t>
            </a:r>
            <a:r>
              <a:rPr lang="es-MX" sz="1800">
                <a:solidFill>
                  <a:schemeClr val="dk1"/>
                </a:solidFill>
              </a:rPr>
              <a:t>Planes de corte de peso con IA, registro fotográfico de alimentos, dashboard de métricas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Integración IA: </a:t>
            </a:r>
            <a:r>
              <a:rPr lang="es-MX" sz="1800">
                <a:solidFill>
                  <a:schemeClr val="dk1"/>
                </a:solidFill>
              </a:rPr>
              <a:t>Reconocimiento de alimentos mediante Gemini API a través de Langchain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Infraestructura: </a:t>
            </a:r>
            <a:r>
              <a:rPr lang="es-MX" sz="1800">
                <a:solidFill>
                  <a:schemeClr val="dk1"/>
                </a:solidFill>
              </a:rPr>
              <a:t>Arquitectura cloud serverless  con AWS, y servicios PosgreSQL de Supabase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800">
                <a:solidFill>
                  <a:schemeClr val="dk1"/>
                </a:solidFill>
              </a:rPr>
              <a:t>Limitaciones del Proyecto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Precisión IA: </a:t>
            </a:r>
            <a:r>
              <a:rPr lang="es-MX" sz="1800">
                <a:solidFill>
                  <a:schemeClr val="dk1"/>
                </a:solidFill>
              </a:rPr>
              <a:t>Dependiente de tamaño y calidad de imagen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Conectividad: </a:t>
            </a:r>
            <a:r>
              <a:rPr lang="es-MX" sz="1800">
                <a:solidFill>
                  <a:schemeClr val="dk1"/>
                </a:solidFill>
              </a:rPr>
              <a:t>Requiere conexión a internet para funciones principales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Idioma: </a:t>
            </a:r>
            <a:r>
              <a:rPr lang="es-MX" sz="1800">
                <a:solidFill>
                  <a:schemeClr val="dk1"/>
                </a:solidFill>
              </a:rPr>
              <a:t>Versión inicial solo en español para mercado chileno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Integración salud: </a:t>
            </a:r>
            <a:r>
              <a:rPr lang="es-MX" sz="1800">
                <a:solidFill>
                  <a:schemeClr val="dk1"/>
                </a:solidFill>
              </a:rPr>
              <a:t>No incluye sincronización con dispositivos médicos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Alcance temporal: </a:t>
            </a:r>
            <a:r>
              <a:rPr lang="es-MX" sz="1800">
                <a:solidFill>
                  <a:schemeClr val="dk1"/>
                </a:solidFill>
              </a:rPr>
              <a:t>MVP funcional en 3 meses de desarrollo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s-MX" sz="1800">
                <a:solidFill>
                  <a:schemeClr val="dk1"/>
                </a:solidFill>
              </a:rPr>
              <a:t>Equipo:</a:t>
            </a:r>
            <a:r>
              <a:rPr lang="es-MX" sz="1800">
                <a:solidFill>
                  <a:schemeClr val="dk1"/>
                </a:solidFill>
              </a:rPr>
              <a:t> Desarrollo con recursos limitados (2 desarrolladores)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1" name="Google Shape;14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0" y="738255"/>
            <a:ext cx="121920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5" name="Google Shape;145;p6"/>
          <p:cNvSpPr txBox="1"/>
          <p:nvPr/>
        </p:nvSpPr>
        <p:spPr>
          <a:xfrm>
            <a:off x="0" y="1435146"/>
            <a:ext cx="12192000" cy="51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300">
                <a:solidFill>
                  <a:schemeClr val="dk1"/>
                </a:solidFill>
              </a:rPr>
              <a:t>Framework Ágil - Scrum Adaptado: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Sprints de 2 semanas</a:t>
            </a:r>
            <a:r>
              <a:rPr lang="es-MX" sz="1300">
                <a:solidFill>
                  <a:schemeClr val="dk1"/>
                </a:solidFill>
              </a:rPr>
              <a:t> con entregas incrementales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Daily stand ups</a:t>
            </a:r>
            <a:r>
              <a:rPr lang="es-MX" sz="1300">
                <a:solidFill>
                  <a:schemeClr val="dk1"/>
                </a:solidFill>
              </a:rPr>
              <a:t> para sincronización del equipo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Sprint planning</a:t>
            </a:r>
            <a:r>
              <a:rPr lang="es-MX" sz="1300">
                <a:solidFill>
                  <a:schemeClr val="dk1"/>
                </a:solidFill>
              </a:rPr>
              <a:t> con priorización de historias de usuario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Sprint review</a:t>
            </a:r>
            <a:r>
              <a:rPr lang="es-MX" sz="1300">
                <a:solidFill>
                  <a:schemeClr val="dk1"/>
                </a:solidFill>
              </a:rPr>
              <a:t> con demostración de funcionalidades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Retrospectiva</a:t>
            </a:r>
            <a:r>
              <a:rPr lang="es-MX" sz="1300">
                <a:solidFill>
                  <a:schemeClr val="dk1"/>
                </a:solidFill>
              </a:rPr>
              <a:t> para mejora continua del proceso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300">
                <a:solidFill>
                  <a:schemeClr val="dk1"/>
                </a:solidFill>
              </a:rPr>
              <a:t>Roles y Responsabilidades: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Product Owner:</a:t>
            </a:r>
            <a:r>
              <a:rPr lang="es-MX" sz="1300">
                <a:solidFill>
                  <a:schemeClr val="dk1"/>
                </a:solidFill>
              </a:rPr>
              <a:t> Rotación semanal entre integrantes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Scrum Master:</a:t>
            </a:r>
            <a:r>
              <a:rPr lang="es-MX" sz="1300">
                <a:solidFill>
                  <a:schemeClr val="dk1"/>
                </a:solidFill>
              </a:rPr>
              <a:t> </a:t>
            </a:r>
            <a:r>
              <a:rPr lang="es-MX" sz="1300">
                <a:solidFill>
                  <a:schemeClr val="dk1"/>
                </a:solidFill>
              </a:rPr>
              <a:t>Rotación</a:t>
            </a:r>
            <a:r>
              <a:rPr lang="es-MX" sz="1300">
                <a:solidFill>
                  <a:schemeClr val="dk1"/>
                </a:solidFill>
              </a:rPr>
              <a:t> semanal entre integrantes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Development Team:</a:t>
            </a:r>
            <a:r>
              <a:rPr lang="es-MX" sz="1300">
                <a:solidFill>
                  <a:schemeClr val="dk1"/>
                </a:solidFill>
              </a:rPr>
              <a:t> Fabián y Vicente (trabajo colaborativo en pares)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500">
                <a:solidFill>
                  <a:schemeClr val="dk1"/>
                </a:solidFill>
              </a:rPr>
              <a:t>Herramientas de Gestión: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Jira:</a:t>
            </a:r>
            <a:r>
              <a:rPr lang="es-MX" sz="1300">
                <a:solidFill>
                  <a:schemeClr val="dk1"/>
                </a:solidFill>
              </a:rPr>
              <a:t> Gestión de backlog y seguimiento de sprints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Git/GitHub:</a:t>
            </a:r>
            <a:r>
              <a:rPr lang="es-MX" sz="1300">
                <a:solidFill>
                  <a:schemeClr val="dk1"/>
                </a:solidFill>
              </a:rPr>
              <a:t> Control de versiones y colaboración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Figma:</a:t>
            </a:r>
            <a:r>
              <a:rPr lang="es-MX" sz="1300">
                <a:solidFill>
                  <a:schemeClr val="dk1"/>
                </a:solidFill>
              </a:rPr>
              <a:t> Diseño y prototipado colaborativo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s-MX" sz="1300">
                <a:solidFill>
                  <a:schemeClr val="dk1"/>
                </a:solidFill>
              </a:rPr>
              <a:t>WhatsApp:</a:t>
            </a:r>
            <a:r>
              <a:rPr lang="es-MX" sz="1300">
                <a:solidFill>
                  <a:schemeClr val="dk1"/>
                </a:solidFill>
              </a:rPr>
              <a:t> Comunicación diaria del equipo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0" name="Google Shape;15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52" name="Google Shape;152;p8"/>
          <p:cNvSpPr txBox="1"/>
          <p:nvPr/>
        </p:nvSpPr>
        <p:spPr>
          <a:xfrm>
            <a:off x="0" y="14326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</p:txBody>
      </p:sp>
      <p:cxnSp>
        <p:nvCxnSpPr>
          <p:cNvPr id="153" name="Google Shape;153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4" name="Google Shape;154;p8" title="Arch Diagram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1200" y="2079155"/>
            <a:ext cx="9680328" cy="4474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NUTRICOMBAT”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1" y="115565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 del desarrollo del proyecto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3" name="Google Shape;163;p7"/>
          <p:cNvSpPr txBox="1"/>
          <p:nvPr/>
        </p:nvSpPr>
        <p:spPr>
          <a:xfrm>
            <a:off x="5230140" y="1802150"/>
            <a:ext cx="1479300" cy="4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050" lIns="82050" spcFirstLastPara="1" rIns="82050" wrap="square" tIns="820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25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Release 1.0.0</a:t>
            </a:r>
            <a:endParaRPr sz="1525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64" name="Google Shape;16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788" y="2295225"/>
            <a:ext cx="11218028" cy="432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9" name="Google Shape;169;g3a908aeceb8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g3a908aeceb8_0_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“NUTRICOMBAT”</a:t>
            </a:r>
            <a:endParaRPr/>
          </a:p>
        </p:txBody>
      </p:sp>
      <p:sp>
        <p:nvSpPr>
          <p:cNvPr id="171" name="Google Shape;171;g3a908aeceb8_0_1"/>
          <p:cNvSpPr txBox="1"/>
          <p:nvPr/>
        </p:nvSpPr>
        <p:spPr>
          <a:xfrm>
            <a:off x="1" y="115565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 Plan del desarrollo del proyecto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g3a908aeceb8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3" name="Google Shape;173;g3a908aeceb8_0_1"/>
          <p:cNvSpPr txBox="1"/>
          <p:nvPr/>
        </p:nvSpPr>
        <p:spPr>
          <a:xfrm>
            <a:off x="5230140" y="1802150"/>
            <a:ext cx="1479300" cy="4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82050" lIns="82050" spcFirstLastPara="1" rIns="82050" wrap="square" tIns="820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25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Release 1.0.</a:t>
            </a:r>
            <a:r>
              <a:rPr lang="es-MX" sz="1525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 sz="1525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4" name="Google Shape;174;g3a908aeceb8_0_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379050"/>
            <a:ext cx="11887200" cy="35885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9" name="Google Shape;17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0" y="7778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2" name="Google Shape;182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3" name="Google Shape;183;p9" title="Untitled (2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0725" y="1565625"/>
            <a:ext cx="9738575" cy="512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8" name="Google Shape;18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NUTRICOMBAT</a:t>
            </a:r>
            <a:r>
              <a:rPr lang="es-MX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90" name="Google Shape;190;p10"/>
          <p:cNvSpPr txBox="1"/>
          <p:nvPr/>
        </p:nvSpPr>
        <p:spPr>
          <a:xfrm>
            <a:off x="0" y="1010093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91" name="Google Shape;191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2" name="Google Shape;192;p10"/>
          <p:cNvSpPr txBox="1"/>
          <p:nvPr/>
        </p:nvSpPr>
        <p:spPr>
          <a:xfrm>
            <a:off x="1223275" y="1755125"/>
            <a:ext cx="8738700" cy="31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Frontend Mobile: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React Native</a:t>
            </a:r>
            <a:r>
              <a:rPr lang="es-MX" sz="1100">
                <a:solidFill>
                  <a:schemeClr val="dk1"/>
                </a:solidFill>
              </a:rPr>
              <a:t> (EAS Compiled) para iOS/Android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Expo</a:t>
            </a:r>
            <a:r>
              <a:rPr lang="es-MX" sz="1100">
                <a:solidFill>
                  <a:schemeClr val="dk1"/>
                </a:solidFill>
              </a:rPr>
              <a:t> para desarrollo y deployment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Backend &amp; Cloud: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AWS Lambda Functions</a:t>
            </a:r>
            <a:r>
              <a:rPr lang="es-MX" sz="1100">
                <a:solidFill>
                  <a:schemeClr val="dk1"/>
                </a:solidFill>
              </a:rPr>
              <a:t> para lógica de negocio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API Gateway</a:t>
            </a:r>
            <a:r>
              <a:rPr lang="es-MX" sz="1100">
                <a:solidFill>
                  <a:schemeClr val="dk1"/>
                </a:solidFill>
              </a:rPr>
              <a:t> para exposición de endpoints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AWS Cognito</a:t>
            </a:r>
            <a:r>
              <a:rPr lang="es-MX" sz="1100">
                <a:solidFill>
                  <a:schemeClr val="dk1"/>
                </a:solidFill>
              </a:rPr>
              <a:t> para autenticación de usuarios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PostgreSQL (Supabase)</a:t>
            </a:r>
            <a:r>
              <a:rPr lang="es-MX" sz="1100">
                <a:solidFill>
                  <a:schemeClr val="dk1"/>
                </a:solidFill>
              </a:rPr>
              <a:t> para base de datos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S3</a:t>
            </a:r>
            <a:r>
              <a:rPr lang="es-MX" sz="1100">
                <a:solidFill>
                  <a:schemeClr val="dk1"/>
                </a:solidFill>
              </a:rPr>
              <a:t> para almacenamiento de imágenes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Inteligencia Artificial: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Langchain: </a:t>
            </a:r>
            <a:r>
              <a:rPr lang="es-MX" sz="1100">
                <a:solidFill>
                  <a:schemeClr val="dk1"/>
                </a:solidFill>
              </a:rPr>
              <a:t>Framework para facilitar integración con Google Gemini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Google Gemini API</a:t>
            </a:r>
            <a:r>
              <a:rPr lang="es-MX" sz="1100">
                <a:solidFill>
                  <a:schemeClr val="dk1"/>
                </a:solidFill>
              </a:rPr>
              <a:t> para reconocimiento de alimentos y planes de corte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s-MX" sz="1300">
                <a:solidFill>
                  <a:schemeClr val="dk1"/>
                </a:solidFill>
              </a:rPr>
              <a:t>DevOps &amp; Tools: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GitHub</a:t>
            </a:r>
            <a:r>
              <a:rPr lang="es-MX" sz="1100">
                <a:solidFill>
                  <a:schemeClr val="dk1"/>
                </a:solidFill>
              </a:rPr>
              <a:t> para control de versiones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Jira</a:t>
            </a:r>
            <a:r>
              <a:rPr lang="es-MX" sz="1100">
                <a:solidFill>
                  <a:schemeClr val="dk1"/>
                </a:solidFill>
              </a:rPr>
              <a:t> para gestión de proyecto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Confluence</a:t>
            </a:r>
            <a:r>
              <a:rPr lang="es-MX" sz="1100">
                <a:solidFill>
                  <a:schemeClr val="dk1"/>
                </a:solidFill>
              </a:rPr>
              <a:t> para documentación del proyecto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Figma</a:t>
            </a:r>
            <a:r>
              <a:rPr lang="es-MX" sz="1100">
                <a:solidFill>
                  <a:schemeClr val="dk1"/>
                </a:solidFill>
              </a:rPr>
              <a:t> para diseño UI/UX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MX" sz="1100">
                <a:solidFill>
                  <a:schemeClr val="dk1"/>
                </a:solidFill>
              </a:rPr>
              <a:t>Postman y terminal</a:t>
            </a:r>
            <a:r>
              <a:rPr lang="es-MX" sz="1100">
                <a:solidFill>
                  <a:schemeClr val="dk1"/>
                </a:solidFill>
              </a:rPr>
              <a:t> para testing de APIs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7" name="Google Shape;1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3" name="Google Shape;20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9" name="Google Shape;20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3"/>
          <p:cNvSpPr txBox="1"/>
          <p:nvPr/>
        </p:nvSpPr>
        <p:spPr>
          <a:xfrm>
            <a:off x="1" y="1693148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5" name="Google Shape;21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